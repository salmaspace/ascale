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B8964E"/>
                </a:solidFill>
              </a:rPr>
              <a:t>ASCALE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7F6F2"/>
                </a:solidFill>
              </a:rPr>
              <a:t>Importateur de matériaux de prestige — Marbre · Granit · Onyx · Travertin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651760"/>
            <a:ext cx="3931920" cy="36576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RAPPORT DE STAGE — SOUTENANCE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</a:rPr>
              <a:t>Salma [NOM]  ·  BUT Informatique 2ème année  ·  IUT de Villetaneuse
Maître de stage : Nasser  ·  Tutrice : Pascale Hellegouarch  ·  Année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▸  01 · Présentation de l'entreprise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▸  02 · Déroulement du stage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▸  03 · Tâches confiées &amp; Projet Ascale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▸  04 · Architecture complète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▸  05 · Front-end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▸  06 · Back-end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▸  07 · Chatbot LLM (OpenRouter)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▸  08 · Système de paiement simulé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▸  09 · Tests unitaires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▸  10 · Base de données &amp; Schéma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▸  11 · API REST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▸  12 · Déploiement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▸  13 · Outils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▸  14 · Défis rencontrés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1A1A2E"/>
                </a:solidFill>
              </a:rPr>
              <a:t>▸  15 · Conclusion &amp; Démo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Présentation de l'entreprise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964E"/>
                </a:solidFill>
              </a:rPr>
              <a:t>Ascale — spécialiste des pierres naturelles de prestige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74320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8964E"/>
                </a:solidFill>
              </a:rPr>
              <a:t>Marbre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7F6F2"/>
                </a:solidFill>
              </a:rPr>
              <a:t>10 références
250–1 380 MAD/m²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63040"/>
            <a:ext cx="274320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8964E"/>
                </a:solidFill>
              </a:rPr>
              <a:t>Granit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11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7F6F2"/>
                </a:solidFill>
              </a:rPr>
              <a:t>4 références
480–780 MAD/m²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74320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8964E"/>
                </a:solidFill>
              </a:rPr>
              <a:t>Onyx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11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7F6F2"/>
                </a:solidFill>
              </a:rPr>
              <a:t>3 références
1 800–2 800 MAD/m²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463040"/>
            <a:ext cx="2743200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8964E"/>
                </a:solidFill>
              </a:rPr>
              <a:t>Travertin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0116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7F6F2"/>
                </a:solidFill>
              </a:rPr>
              <a:t>3 références
280–350 MAD/m²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926080"/>
            <a:ext cx="11430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 Clientèle : architectes d'intérieur, promoteurs immobiliers, artisans, particuliers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 Showroom à Casablanca (Zone Industrielle Oukacha) · Livraison sur tout le Maroc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 Avant le stage : gestion manuelle (Excel + WhatsApp) → digitalisation en cours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A1A2E"/>
                </a:solidFill>
              </a:rPr>
              <a:t>•  Mission confiée : concevoir une application web de gestion commerciale complète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Déroulement du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964E"/>
                </a:solidFill>
              </a:rPr>
              <a:t>10 semaines · 5 sprints · équipe Agile Scrum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1031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964E"/>
                </a:solidFill>
              </a:rPr>
              <a:t>Sprint S0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2011680"/>
            <a:ext cx="457200" cy="457200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Cadrage
&amp; Analyse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417320"/>
            <a:ext cx="21031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964E"/>
                </a:solidFill>
              </a:rPr>
              <a:t>Sprint S1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2011680"/>
            <a:ext cx="457200" cy="457200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Back-end
&amp; BDD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417320"/>
            <a:ext cx="21031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964E"/>
                </a:solidFill>
              </a:rPr>
              <a:t>Sprint S2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011680"/>
            <a:ext cx="457200" cy="457200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Commandes
&amp; Emails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59" y="1417320"/>
            <a:ext cx="21031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59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964E"/>
                </a:solidFill>
              </a:rPr>
              <a:t>Sprint S3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19" y="2011680"/>
            <a:ext cx="457200" cy="457200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59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Chatbot
&amp; Dashboard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417320"/>
            <a:ext cx="21031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964E"/>
                </a:solidFill>
              </a:rPr>
              <a:t>Sprint S4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07040" y="2011680"/>
            <a:ext cx="457200" cy="457200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Front-end
&amp;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383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Cérémonies Scrum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749039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Daily meeting 9h00 (15 min) — avancement, blocages, plan du jour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Sprint Planning — sélection user stories, estimation Fibonacci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Sprint Review — démonstration au Product Owner (Nasser)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Rétrospective — amélioration continue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383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Rôles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749039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Product Owner : Nasser (maître de stage)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Scrum Master : Nasser (double casquette)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Développeuse : Salma (stagiaire)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Outil : Azure DevOps (Boards + Repos + Pipelines)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Tâches confiées &amp; Projet Ascale Marbre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964E"/>
                </a:solidFill>
              </a:rPr>
              <a:t>Application web de gestion commerciale — Flask · SQLite ·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834640" cy="457200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8988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Front-end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2651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✓  Catalogue + filtres JS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✓  Calculateur de surface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✓  Chatbot flottant (AJAX)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✓  Dashboard Chart.js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371600"/>
            <a:ext cx="2834640" cy="457200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38988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Back-end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20240"/>
            <a:ext cx="2651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✓  Routes Flask 3.0.3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✓  Chatbot 10 intentions + LLM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✓  Emails Flask-Mail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✓  Webhook WhatsApp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834640" cy="457200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8988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Base données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20240"/>
            <a:ext cx="2651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✓  8 entités SQLAlchemy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✓  Transactions atomiques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✓  20 produits seed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✓  Tests StaticPool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1371600"/>
            <a:ext cx="2834640" cy="457200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38988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API &amp; Dépl.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920240"/>
            <a:ext cx="2651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✓  API JSON chatbot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✓  Export CSV (BOM)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✓  Déploiement Render.com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</a:rPr>
              <a:t>✓  105 tests pytest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Architecture complète — Vue en couches (MVC)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1612880" cy="109728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PRÉSENTATION (Vue)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7160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F6F2"/>
                </a:solidFill>
              </a:rPr>
              <a:t>Templates Jinja2 · CSS custom · JavaScript ES6
base_public.html · base.html · nos_materiaux · commander · chatbot ·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60320"/>
            <a:ext cx="11612880" cy="1097280"/>
          </a:xfrm>
          <a:prstGeom prst="rect">
            <a:avLst/>
          </a:prstGeom>
          <a:solidFill>
            <a:srgbClr val="2EA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06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CONTRÔLEUR (Routes)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0604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F6F2"/>
                </a:solidFill>
              </a:rPr>
              <a:t>app.py · create_app(test_config)
Routes publiques + admin + API JSON + Export CSV + Webhook WhatsApp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94760"/>
            <a:ext cx="11612880" cy="1097280"/>
          </a:xfrm>
          <a:prstGeom prst="rect">
            <a:avLst/>
          </a:prstGeom>
          <a:solidFill>
            <a:srgbClr val="B80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840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SERVICE (Modèle)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84048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F6F2"/>
                </a:solidFill>
              </a:rPr>
              <a:t>models.py · class Store  |  chatbot.py · repondre()  |  email_service.py
Transactions atomiques · 10 intentions · LLM OpenRouter · Flask-Mail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029200"/>
            <a:ext cx="11612880" cy="1097280"/>
          </a:xfrm>
          <a:prstGeom prst="rect">
            <a:avLst/>
          </a:prstGeom>
          <a:solidFill>
            <a:srgbClr val="88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074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07492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F6F2"/>
                </a:solidFill>
              </a:rPr>
              <a:t>database.py · 8 entités SQLAlchemy
ascale.db  (SQLite — fichier unique)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Architecture complète — Flux des requêtes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612880" cy="5029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300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964E"/>
                </a:solidFill>
                <a:latin typeface="Courier New"/>
              </a:rPr>
              <a:t>Navigateur  ──HTTP GET/POST──▶  Flask (app.py)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                      │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┌──────────────────────┼──────────────────────┐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│                      │                      │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Route publique         Route commande          Route chatbot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/nos-materiaux         /commander              /chatbot/widget/envoyer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│                      │                      │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Store.list_produits()  Store.creer_commande()  chatbot.repondre()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│                      │                    ├── mots-clés (10 intents)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▼                      ├──▶ email_service   └── _tenter_llm()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SQLite                   │        └──▶ Gmail SMTP     └──▶ OpenRouter API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                 └──▶ SQLite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Route admin              Webhook WhatsApp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/gestion · /commandes    /webhook/whatsapp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│                      │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Dashboard (KPI)         whatsapp_config.py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Chart.js                    └──▶ Meta Graph API v20.0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Front-end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964E"/>
                </a:solidFill>
              </a:rPr>
              <a:t>Jinja2 · CSS custom · JavaScript ES6 · Chart.js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</a:rPr>
              <a:t>•  Design system : palette ivoire / anthracite / or — sans framework CSS externe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</a:rPr>
              <a:t>•  CSS Grid + Flexbox + media queries → responsive mobile-first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</a:rPr>
              <a:t>•  Variables CSS (--gold, --dark, --light) pour cohérence admin ↔ public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283464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85292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8964E"/>
                </a:solidFill>
              </a:rPr>
              <a:t>Catalogue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8328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Filtres JS (catégorie, dispo, prix)
Sans rechargement de 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834640"/>
            <a:ext cx="283464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85292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8964E"/>
                </a:solidFill>
              </a:rPr>
              <a:t>Calculateur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38328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Longueur × largeur × taux chutes
Injection auto dans le formulaire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834640"/>
            <a:ext cx="283464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85292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8964E"/>
                </a:solidFill>
              </a:rPr>
              <a:t>Chatbot widget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38328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AJAX → /chatbot/widget/envoyer
Historique conversation flottant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2834640"/>
            <a:ext cx="283464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285292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8964E"/>
                </a:solidFill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38328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KPI cards + Chart.js
Top 5 produits · Commandes par canal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Back-end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964E"/>
                </a:solidFill>
              </a:rPr>
              <a:t>Flask 3.0.3 · Python 3.11 · SQLAlchemy · Flask-Mail · Werkzeug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app.py —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create_app(test_config) — injection config tests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Validation serveur (email, quantités, stocks)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Flash messages, sessions signées (Werkzeug)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Export CSV avec BOM UTF-8 (Excel)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models.py —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262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Façade : clients, produits, commandes, créneaux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StockInsuffisantError, CreneauIndisponibleError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Transactions atomiques (flush → commit)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seed() : 7 clients, 20 produits, 7 commandes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email_service.py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Flask-Mail → Gmail SMTP (TLS)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Confirmation commande &amp; réservation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Auto-réponse contact + pré-réponse chatbot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MAIL_SUPPRESS_SEND=True en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whatsapp_config.py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2628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Meta Graph API v20.0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Webhook vérification (challenge/response)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Parsing payloads JSON entrants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Prêt — en attente credentials Meta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Chatbot LLM — OpenRouter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964E"/>
                </a:solidFill>
              </a:rPr>
              <a:t>Moteur mots-clés + fallback LLM Mistral 7B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64E"/>
                </a:solidFill>
              </a:rPr>
              <a:t>Chaîne de 10 intentions (ordre de priorité)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7F6F2"/>
                </a:solidFill>
              </a:rPr>
              <a:t>•  1. Salutation — bonjour, salam, hello…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7F6F2"/>
                </a:solidFill>
              </a:rPr>
              <a:t>•  2. Politesse — merci, au revoir…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7F6F2"/>
                </a:solidFill>
              </a:rPr>
              <a:t>•  3. Action — commander, réserver, showroom…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7F6F2"/>
                </a:solidFill>
              </a:rPr>
              <a:t>•  4. Devis m² — regex surface + produit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7F6F2"/>
                </a:solidFill>
              </a:rPr>
              <a:t>•  5. Statut commande — numéro ou nom client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7F6F2"/>
                </a:solidFill>
              </a:rPr>
              <a:t>•  6. Budget — montant MAD ou qualitatif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7F6F2"/>
                </a:solidFill>
              </a:rPr>
              <a:t>•  7. Recommandation — cuisine, salle de bain…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7F6F2"/>
                </a:solidFill>
              </a:rPr>
              <a:t>•  8. FAQ — horaires, adresse, livraison…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7F6F2"/>
                </a:solidFill>
              </a:rPr>
              <a:t>•  9. Info produit — score mots ≥ 2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7F6F2"/>
                </a:solidFill>
              </a:rPr>
              <a:t>•  10. Catégorie — marbre, granit, onyx…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7F6F2"/>
                </a:solidFill>
              </a:rPr>
              <a:t>•  →  Fallback LLM (si OPENROUTER_API_KEY)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8964E"/>
                </a:solidFill>
              </a:rPr>
              <a:t>LLM via OpenRouter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7F6F2"/>
                </a:solidFill>
              </a:rPr>
              <a:t>•  Modèle : mistralai/mistral-7b-instruct:free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7F6F2"/>
                </a:solidFill>
              </a:rPr>
              <a:t>•  Appel HTTPS via urllib.request (stdlib)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7F6F2"/>
                </a:solidFill>
              </a:rPr>
              <a:t>•  System prompt contraint au domaine matériaux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7F6F2"/>
                </a:solidFill>
              </a:rPr>
              <a:t>•  Catalogue temps réel injecté dans le prompt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7F6F2"/>
                </a:solidFill>
              </a:rPr>
              <a:t>•  Timeout 10s — fallback message d'aide si erreur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7F6F2"/>
                </a:solidFill>
              </a:rPr>
              <a:t>•  OPENROUTER_API_KEY vide = désactivé (sécurité)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434840"/>
            <a:ext cx="5577840" cy="2103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26280"/>
            <a:ext cx="539496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964E"/>
                </a:solidFill>
                <a:latin typeface="Courier New"/>
              </a:rPr>
              <a:t># Fallback LLM (chatbot.py)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def _tenter_llm(store, message):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if not OPENROUTER_API_KEY: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return None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# Catalogue temps réel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catalogue = "\n".join(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f"- {p.nom} : {p.prix:.0f} MAD/m²"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for p in store.list_produits()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)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payload = {"model": OPENROUTER_MODEL,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"messages": [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  {"role":"system",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   "content": SYSTEM_PROMPT.format(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     catalogue=catalogue)},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  {"role":"user",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   "content": message}],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"max_tokens": 350}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# POST vers OpenRouter…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Système de paiement simulé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964E"/>
                </a:solidFill>
              </a:rPr>
              <a:t>Tunnel 3 étapes · Nominatim · fpdf2 · Flask-Mail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8964E"/>
                </a:solidFill>
              </a:rPr>
              <a:t>Étape 1 — Produits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Sélection produits
Infos contact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4747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417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8964E"/>
                </a:solidFill>
              </a:rPr>
              <a:t>Étape 2 — Paiement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57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Adresse livraison
+ mode de règlement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4747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417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8964E"/>
                </a:solidFill>
              </a:rPr>
              <a:t>Étape 3 — Confirmation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57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Reçu immédiat
+ facture PDF par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Validation adresse — Nominatim / OSM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52044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Autocomplétion JS (debounce 400 ms) — suggestions en temps réel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Validation côté serveur via urllib.request (stdlib, 0 dépendance)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Fail-open : jamais bloquant si Nominatim indisponible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OpenStreetMap — sans clé API, sans coût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08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Modes de paiement &amp; facturation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2044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💳 Carte bancaire — champs visuels (aucun traitement réel)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🏦 Virement bancaire — RIB Ascale affiché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💰 Espèces au showroom — confirmation directe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Facture pro forma PDF générée en mémoire (fpdf2 2.8.7)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Email avec PDF joint via Flask-Mail (SMTP Gmail)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Tests unitaires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964E"/>
                </a:solidFill>
              </a:rPr>
              <a:t>105 tests · pytest + pytest-flask · SQLite in-memory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56032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B8964E"/>
                </a:solidFill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tests
modèles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56032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63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B8964E"/>
                </a:solidFill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tests
chatbot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56032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63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B8964E"/>
                </a:solidFill>
              </a:rPr>
              <a:t>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tests
routes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371600"/>
            <a:ext cx="2560320" cy="1371600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4630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A1A2E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passent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880360"/>
            <a:ext cx="11430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Isolation : StaticPool — même connexion in-memory pour tout le test → pas d'effet de bord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scope='function' — base SQLite vierge fraîche pour chaque test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Mocks : patch('chatbot.OPENROUTER_API_KEY', '') — LLM désactivé en test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test_models.py — atomicité commandes, créneaux, stock_faible, rupture, list_tous_creneaux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test_chatbot.py — 10 intentions, 4 faux positifs, 3 scénarios LLM mock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test_routes.py — GET/POST, codes HTTP, réponse JSON, export CSV, webhook WhatsApp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Base de données &amp; Schéma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964E"/>
                </a:solidFill>
              </a:rPr>
              <a:t>SQLite · Flask-SQLAlchemy · 8 entités · 20 produits seed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612880" cy="1828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11430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964E"/>
                </a:solidFill>
                <a:latin typeface="Courier New"/>
              </a:rPr>
              <a:t>CLIENT ─(1,N)──▶ COMMANDE ─(1,N)──▶ LIGNE_COMMANDE ─(N,1)──▶ PRODUIT ─(N,1)──▶ CATEGORIE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                                                       │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CLIENT ─(0,N)──▶ CRENEAU ─(0,1)──▶ RESERVATION                  stock/prix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UTILISATEUR ── accède à ── [Espace Admin]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Entités : CLIENT · PRODUIT · CATEGORIE · COMMANDE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LIGNE_COMMANDE · CRENEAU · RESERVATION · UTILISATEUR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</a:rPr>
              <a:t>•  db.session.flush() — obtenir l'ID avant commit (transactions atomiques multi-lignes)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</a:rPr>
              <a:t>•  StockInsuffisantError — vérification TOUS les stocks avant toute décrémentation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</a:rPr>
              <a:t>•  20 produits seed (10 marbres · 4 granits · 3 onyx · 3 travertins) · 7 clients · 7 commandes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2E"/>
                </a:solidFill>
              </a:rPr>
              <a:t>•  SQLAlchemy ORM — migration PostgreSQL facilitée (seul SQLALCHEMY_DATABASE_URI change)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API 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964E"/>
                </a:solidFill>
              </a:rPr>
              <a:t>Routes publiques · admin · JSON · CSV · Webhook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931920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44752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1371600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444752"/>
            <a:ext cx="1280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Format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371600"/>
            <a:ext cx="6400800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1444752"/>
            <a:ext cx="6309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01952"/>
            <a:ext cx="3931920" cy="530352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975104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964E"/>
                </a:solidFill>
              </a:rPr>
              <a:t>GET  /nos-materiaux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901952"/>
            <a:ext cx="1371600" cy="530352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975104"/>
            <a:ext cx="1280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HTML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1901952"/>
            <a:ext cx="6400800" cy="530352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1975104"/>
            <a:ext cx="6309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Catalogue produits + filtres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432304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505456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964E"/>
                </a:solidFill>
              </a:rPr>
              <a:t>POST /commander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432304"/>
            <a:ext cx="1371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2505456"/>
            <a:ext cx="1280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HTML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2432304"/>
            <a:ext cx="6400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505456"/>
            <a:ext cx="6309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Création commande publique → redirect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962656"/>
            <a:ext cx="3931920" cy="530352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035808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964E"/>
                </a:solidFill>
              </a:rPr>
              <a:t>POST /chatbot/widget/envoyer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962656"/>
            <a:ext cx="1371600" cy="530352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3035808"/>
            <a:ext cx="1280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2962656"/>
            <a:ext cx="6400800" cy="530352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60" y="3035808"/>
            <a:ext cx="6309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API chatbot (widget flottant AJAX)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493008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566160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964E"/>
                </a:solidFill>
              </a:rPr>
              <a:t>GET  /admin/commandes/export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493008"/>
            <a:ext cx="1371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60" y="3566160"/>
            <a:ext cx="1280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CSV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3493008"/>
            <a:ext cx="6400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3566160"/>
            <a:ext cx="6309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Export commandes (UTF-8 BOM)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023360"/>
            <a:ext cx="3931920" cy="530352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096512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964E"/>
                </a:solidFill>
              </a:rPr>
              <a:t>GET  /admin/clients/export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4023360"/>
            <a:ext cx="1371600" cy="530352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4096512"/>
            <a:ext cx="1280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CSV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4023360"/>
            <a:ext cx="6400800" cy="530352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0" y="4096512"/>
            <a:ext cx="6309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Export clients (UTF-8 BOM)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553712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4626864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964E"/>
                </a:solidFill>
              </a:rPr>
              <a:t>POST /commandes/&lt;id&gt;/statut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4553712"/>
            <a:ext cx="1371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4626864"/>
            <a:ext cx="1280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HTML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77840" y="4553712"/>
            <a:ext cx="6400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4626864"/>
            <a:ext cx="6309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Mise à jour statut dropdown inline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084064"/>
            <a:ext cx="3931920" cy="530352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5157216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964E"/>
                </a:solidFill>
              </a:rPr>
              <a:t>GET  /webhook/whatsapp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5084064"/>
            <a:ext cx="1371600" cy="530352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51960" y="5157216"/>
            <a:ext cx="1280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TEXT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77840" y="5084064"/>
            <a:ext cx="6400800" cy="530352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23560" y="5157216"/>
            <a:ext cx="6309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Vérification webhook Meta (challenge)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614416"/>
            <a:ext cx="3931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5687568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964E"/>
                </a:solidFill>
              </a:rPr>
              <a:t>POST /webhook/whatsapp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5614416"/>
            <a:ext cx="1371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5687568"/>
            <a:ext cx="1280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JSON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77840" y="5614416"/>
            <a:ext cx="6400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23560" y="5687568"/>
            <a:ext cx="6309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Réception messages WhatsApp Business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Déploiement prévu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964E"/>
                </a:solidFill>
              </a:rPr>
              <a:t>Render.com · Gunicorn · GitHub CI · Persistent Disk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8964E"/>
                </a:solidFill>
              </a:rPr>
              <a:t>Solution retenue : Render.com (Free tier)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11612880" cy="2926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1430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964E"/>
                </a:solidFill>
                <a:latin typeface="Courier New"/>
              </a:rPr>
              <a:t>GitHub (main) ──git push──▶ Render.com CI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                     │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            Build : pip install -r requirements.txt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                    (+ gunicorn)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                     │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            Start  : gunicorn app:app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                     │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     ┌───────────────┼───────────────────┐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      │               │                   │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Env vars          Persistent Disk     HTTPS auto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SECRET_KEY        /data/ascale.db     ascale.onrender.com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MAIL_*            (5 Go gratuit)</a:t>
            </a:r>
          </a:p>
          <a:p>
            <a:r>
              <a:rPr sz="1000">
                <a:solidFill>
                  <a:srgbClr val="B8964E"/>
                </a:solidFill>
                <a:latin typeface="Courier New"/>
              </a:rPr>
              <a:t>              OPENROUTER_API_KEY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93776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7F6F2"/>
                </a:solidFill>
              </a:rPr>
              <a:t>•  Avantage : déploiement par git push, sans configuration nginx/gunicorn manuelle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7F6F2"/>
                </a:solidFill>
              </a:rPr>
              <a:t>•  Inconvénient tier free : mise en veille après 15 min → upgrade $7/mois si besoin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7F6F2"/>
                </a:solidFill>
              </a:rPr>
              <a:t>•  Alternative : PythonAnywhere (facile Flask, console SSH, HTTPS inclus)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Outils &amp; Stack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749039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0817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964E"/>
                </a:solidFill>
              </a:rPr>
              <a:t>Back-end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2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Python 3.11 · Flask 3.0.3
SQLAlchemy 3.1 · Werkzeug
python-dotenv · Gunicorn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371600"/>
            <a:ext cx="3749039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399" y="140817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964E"/>
                </a:solidFill>
              </a:rPr>
              <a:t>Front-end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399" y="187452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Jinja2 · Vanilla CSS ES6
Chart.js 4.4 · Feather Icons
CSS Grid + Flexbox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749039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0817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964E"/>
                </a:solidFill>
              </a:rPr>
              <a:t>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874520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pytest 8.3 · pytest-flask
StaticPool · unittest.mock
105 tests unitaires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3749039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785615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964E"/>
                </a:solidFill>
              </a:rPr>
              <a:t>DevOps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251959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Git · Azure DevOps
Boards Scrum · PR Reviews
CI Pipelines · Render.com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3749039"/>
            <a:ext cx="3749039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399" y="3785615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964E"/>
                </a:solidFill>
              </a:rPr>
              <a:t>Externe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4251959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OpenRouter (LLM)
Meta Graph API v20.0
Flask-Mail · Gmail SMTP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749039"/>
            <a:ext cx="3749039" cy="43891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785615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8964E"/>
                </a:solidFill>
              </a:rPr>
              <a:t>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251959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VS Code
Pylance · GitLens
SQLite Viewer · Chrome DevTools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Défis rencontrés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749039" cy="43891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0817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Migration BDD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2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Garder l'API publique identique
→ Pattern Façade + flush()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371600"/>
            <a:ext cx="3749039" cy="43891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399" y="140817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Chatbot faux positifs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399" y="187452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10 intentions ordonnées
→ Score mots entiers + seuil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749039" cy="43891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0817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LLM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87452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OpenRouter gratuit
→ System prompt contraint au domaine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3749039" cy="43891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96849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Atomicité stock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43484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Race condition commandes
→ Validation TOUS avant décrémentation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3931920"/>
            <a:ext cx="3749039" cy="43891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399" y="396849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Tests isolés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443484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DB partagée entre tests
→ StaticPool + scope='function'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931920"/>
            <a:ext cx="3749039" cy="43891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96849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WhatsApp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43484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Credentials Meta non obtenus
→ Flask-Mail en fallback immédiat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_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Conclusion &amp; Démo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7F6F2"/>
                </a:solidFill>
              </a:rPr>
              <a:t>•  Application complète livrée : catalogue · commandes · chatbot LLM · dashboard · tests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7F6F2"/>
                </a:solidFill>
              </a:rPr>
              <a:t>•  Tunnel paiement simulé (3 étapes) · validation Nominatim · facture PDF · email pièce jointe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7F6F2"/>
                </a:solidFill>
              </a:rPr>
              <a:t>•  Chatbot mode hybride : Spécialisé (10 intentions) ↔ IA Libre (OpenRouter Mistral 7B)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7F6F2"/>
                </a:solidFill>
              </a:rPr>
              <a:t>•  105 tests unitaires passent — couverture back-end complète (modèles, chatbot, routes)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7F6F2"/>
                </a:solidFill>
              </a:rPr>
              <a:t>•  20 produits (4 familles) · 7 clients · architecture MVC propre et extensible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7F6F2"/>
                </a:solidFill>
              </a:rPr>
              <a:t>•  Déploiement Render.com documenté — prêt à mettre en ligne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11247120" cy="54864"/>
          </a:xfrm>
          <a:prstGeom prst="rect">
            <a:avLst/>
          </a:prstGeom>
          <a:solidFill>
            <a:srgbClr val="B8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8964E"/>
                </a:solidFill>
              </a:rPr>
              <a:t>DÉMONSTRATION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6636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① Catalogue public + filtres  |  ② Calculateur + tunnel paiement + facture PDF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③ Chatbot mode Spécialisé / IA Libre  |  ④ Dashboard admin (KPI + graphiques)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⑤ Export CSV  |  ⑥ Réservation showroom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</a:rPr>
              <a:t>Merci de votre attention ! 🏛️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